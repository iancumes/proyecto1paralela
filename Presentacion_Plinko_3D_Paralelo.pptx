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77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una propuesta de screensaver: un Plinko tridimensional con estética futurista. El objetivo no es hacer solo una animación, sino una simulación con muchos objetos independientes para comparar una versión secuencial contra una paralelizada en OpenMP.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explica qué se verá en pantalla. Queremos que sea claro que cumple el requisito de screensaver con movimiento, colores, física, trigonometría y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define exactamente qué objetos se guardarán en arrays. La idea de diseño es separar el estado por tipo: pelotas, pines, modificadores y contenedores de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explican las fórmulas conceptuales del movimiento y qué aporta cada color. No es solo estética: cada color modifica parámetros físicos.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una definición clara del alcance. Esta primera entrega queda enfocada en qué se va a construir, qué objetos tendrá, cómo se moverán y dónde estará la parte paralelizable.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ultra_realistic_glossy_3d_rendered_batch_1_dark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5212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PLINKO 3D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PARALELO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1792" y="2313432"/>
            <a:ext cx="2560320" cy="0"/>
          </a:xfrm>
          <a:prstGeom prst="line">
            <a:avLst/>
          </a:prstGeom>
          <a:noFill/>
          <a:ln w="38100">
            <a:solidFill>
              <a:srgbClr val="2BE7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21792" y="25420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F7FF"/>
                </a:solidFill>
              </a:rPr>
              <a:t>Screensaver interactivo con física, modificadores y paralelización con OpenMP</a:t>
            </a:r>
            <a:br>
              <a:rPr lang="en-US" sz="1800" dirty="0">
                <a:solidFill>
                  <a:srgbClr val="D6F7FF"/>
                </a:solidFill>
              </a:rPr>
            </a:b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1792" y="3401568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142544">
              <a:alpha val="92000"/>
            </a:srgbClr>
          </a:solidFill>
          <a:ln w="12700">
            <a:solidFill>
              <a:srgbClr val="42E8F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CFFBFF"/>
                </a:solidFill>
              </a:rPr>
              <a:t>C++ · OpenMP · OpenGL/SDL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2907792" y="3401568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42544">
              <a:alpha val="92000"/>
            </a:srgbClr>
          </a:solidFill>
          <a:ln w="12700">
            <a:solidFill>
              <a:srgbClr val="42E8F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17520" y="3474720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CFFBFF"/>
                </a:solidFill>
              </a:rPr>
              <a:t>N pelotas simuladas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828032" y="340156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42544">
              <a:alpha val="92000"/>
            </a:srgbClr>
          </a:solidFill>
          <a:ln w="12700">
            <a:solidFill>
              <a:srgbClr val="42E8F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37760" y="347472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CFFBFF"/>
                </a:solidFill>
              </a:rPr>
              <a:t>FPS + speedup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60E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65562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4BD"/>
                </a:solidFill>
              </a:rPr>
              <a:t>Plinko 3D Paralelo · Entrega 1 · 1</a:t>
            </a:r>
            <a:endParaRPr lang="en-US" sz="8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B6B34CD4-4268-A314-7C20-FC4BA76FC276}"/>
              </a:ext>
            </a:extLst>
          </p:cNvPr>
          <p:cNvSpPr/>
          <p:nvPr/>
        </p:nvSpPr>
        <p:spPr>
          <a:xfrm>
            <a:off x="621792" y="5522977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F7FF"/>
                </a:solidFill>
              </a:rPr>
              <a:t>Ian Cumes 23236</a:t>
            </a:r>
            <a:br>
              <a:rPr lang="en-US" sz="1800" dirty="0">
                <a:solidFill>
                  <a:srgbClr val="D6F7FF"/>
                </a:solidFill>
              </a:rPr>
            </a:br>
            <a:r>
              <a:rPr lang="en-US" sz="1800" dirty="0">
                <a:solidFill>
                  <a:srgbClr val="D6F7FF"/>
                </a:solidFill>
              </a:rPr>
              <a:t>Javier Valladares 23045</a:t>
            </a:r>
            <a:br>
              <a:rPr lang="en-US" sz="1800" dirty="0">
                <a:solidFill>
                  <a:srgbClr val="D6F7FF"/>
                </a:solidFill>
              </a:rPr>
            </a:br>
            <a:r>
              <a:rPr lang="en-US" sz="1800" dirty="0">
                <a:solidFill>
                  <a:srgbClr val="D6F7FF"/>
                </a:solidFill>
              </a:rPr>
              <a:t>Nery Molina  23218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3d_digital_illustration_infographi_batch_2_dark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que vamos a presentar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76072" y="8686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3E8"/>
                </a:solidFill>
              </a:rPr>
              <a:t>Un tablero Plinko 3D con estética arcade futurista y simulación continua tipo screensaver.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463040"/>
            <a:ext cx="4800600" cy="4069080"/>
          </a:xfrm>
          <a:prstGeom prst="roundRect">
            <a:avLst>
              <a:gd name="adj" fmla="val 2697"/>
            </a:avLst>
          </a:prstGeom>
          <a:solidFill>
            <a:srgbClr val="0B1226">
              <a:alpha val="82000"/>
            </a:srgbClr>
          </a:solidFill>
          <a:ln w="15240">
            <a:solidFill>
              <a:srgbClr val="55D9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96112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Idea central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96112" y="2240280"/>
            <a:ext cx="4279392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E7F2FF"/>
                </a:solidFill>
              </a:rPr>
              <a:t>• Las pelotas caen desde una tolva superior y chocan contra una malla de pines.
• Cada color representa una familia física distinta: masa, rebote, fricción y deriva lateral.
• El tablero no es estático: algunos pines rotan, vibran o cambian su fuerza de rebote.
• La cámara puede orbitar suavemente para reforzar la percepción 3D.</a:t>
            </a:r>
            <a:endParaRPr lang="en-US" sz="1470" dirty="0"/>
          </a:p>
        </p:txBody>
      </p:sp>
      <p:sp>
        <p:nvSpPr>
          <p:cNvPr id="11" name="Shape 8"/>
          <p:cNvSpPr/>
          <p:nvPr/>
        </p:nvSpPr>
        <p:spPr>
          <a:xfrm>
            <a:off x="6812279" y="1472184"/>
            <a:ext cx="4800599" cy="4069080"/>
          </a:xfrm>
          <a:prstGeom prst="roundRect">
            <a:avLst>
              <a:gd name="adj" fmla="val 6742"/>
            </a:avLst>
          </a:prstGeom>
          <a:solidFill>
            <a:srgbClr val="0B1226">
              <a:alpha val="82000"/>
            </a:srgbClr>
          </a:solidFill>
          <a:ln w="15240">
            <a:solidFill>
              <a:srgbClr val="8BFF6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59168" y="1820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Elemento físico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31903" y="2862071"/>
            <a:ext cx="4074691" cy="150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E7F2FF"/>
                </a:solidFill>
              </a:rPr>
              <a:t>Gravedad, colisiones esfera–cilindro, amortiguamiento, rebote y movimiento sinusoidal de ciertos obstáculos.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60E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5562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4BD"/>
                </a:solidFill>
              </a:rPr>
              <a:t>Plinko 3D Paralelo · Entrega 1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ultra_realistic_glossy_3d_rendered_batch_1_dark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Objetos principales en memoria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76072" y="8686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3E8"/>
                </a:solidFill>
              </a:rPr>
              <a:t>La simulación se organiza como arrays de estructuras para que los ciclos sean fáciles de paralelizar.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0B1226">
              <a:alpha val="91000"/>
            </a:srgbClr>
          </a:solidFill>
          <a:ln w="15240">
            <a:solidFill>
              <a:srgbClr val="2BE7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4128" y="1709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E7FF"/>
                </a:solidFill>
              </a:rPr>
              <a:t>Ball[N]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4128" y="2212848"/>
            <a:ext cx="26060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7F2FF"/>
                </a:solidFill>
              </a:rPr>
              <a:t>• position: vec3
• velocity: vec3
• radius, mass
• colorType
• energyTrail
• active/binId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24128" y="48920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C5D8F5"/>
                </a:solidFill>
              </a:rPr>
              <a:t>Es el array más importante porque N puede crecer bastante.</a:t>
            </a:r>
            <a:endParaRPr lang="en-US" sz="1140" dirty="0"/>
          </a:p>
        </p:txBody>
      </p:sp>
      <p:sp>
        <p:nvSpPr>
          <p:cNvPr id="9" name="Shape 6"/>
          <p:cNvSpPr/>
          <p:nvPr/>
        </p:nvSpPr>
        <p:spPr>
          <a:xfrm>
            <a:off x="4462272" y="141732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0B1226">
              <a:alpha val="91000"/>
            </a:srgbClr>
          </a:solidFill>
          <a:ln w="15240">
            <a:solidFill>
              <a:srgbClr val="FFB43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09160" y="1709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43B"/>
                </a:solidFill>
              </a:rPr>
              <a:t>Peg[M]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09160" y="2212848"/>
            <a:ext cx="26060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7F2FF"/>
                </a:solidFill>
              </a:rPr>
              <a:t>• position: vec3
• radius, height
• motionType
• phase, amplitude
• angularVelocity
• bounceFactor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709160" y="48920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C5D8F5"/>
                </a:solidFill>
              </a:rPr>
              <a:t>Representa los palitos fijos, rotatorios o vibratorios del tablero.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8138160" y="141732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0B1226">
              <a:alpha val="91000"/>
            </a:srgbClr>
          </a:solidFill>
          <a:ln w="15240">
            <a:solidFill>
              <a:srgbClr val="BA7C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85048" y="1709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7CFF"/>
                </a:solidFill>
              </a:rPr>
              <a:t>Modifier[K]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85048" y="2212848"/>
            <a:ext cx="26060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7F2FF"/>
                </a:solidFill>
              </a:rPr>
              <a:t>• zone: box/sphere
• forceField: vec3
• effectType
• intensity
• duration
• cooldown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385048" y="48920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C5D8F5"/>
                </a:solidFill>
              </a:rPr>
              <a:t>Zonas que alteran gravedad, velocidad, dirección o tamaño visual.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60E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65562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4BD"/>
                </a:solidFill>
              </a:rPr>
              <a:t>Plinko 3D Paralelo · Entrega 1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3d_digital_illustration_infographi_batch_2_dark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Movimiento y comportamiento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76072" y="8686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3E8"/>
                </a:solidFill>
              </a:rPr>
              <a:t>Cada frame actualiza física, colisiones, modificadores y renderizado.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31520" y="1298448"/>
            <a:ext cx="5257800" cy="4498848"/>
          </a:xfrm>
          <a:prstGeom prst="roundRect">
            <a:avLst>
              <a:gd name="adj" fmla="val 2439"/>
            </a:avLst>
          </a:prstGeom>
          <a:solidFill>
            <a:srgbClr val="0B1226">
              <a:alpha val="89000"/>
            </a:srgbClr>
          </a:solidFill>
          <a:ln w="15240">
            <a:solidFill>
              <a:srgbClr val="2BE7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87552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Movimiento base de cada pelota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87552" y="2057400"/>
            <a:ext cx="4617720" cy="2487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E7F2FF"/>
                </a:solidFill>
              </a:rPr>
              <a:t>• Se aplica gravedad: v.y += g · dt.
• Se actualiza posición: p += v · dt.
• Al chocar con un pin, se refleja la velocidad sobre la normal de contacto.
• Se agrega pérdida de energía: v *= damping.
• Si cae en un bin, se reinicia arriba para mantener el screensaver infinito.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6492240" y="1298448"/>
            <a:ext cx="4892040" cy="4498848"/>
          </a:xfrm>
          <a:prstGeom prst="roundRect">
            <a:avLst>
              <a:gd name="adj" fmla="val 2439"/>
            </a:avLst>
          </a:prstGeom>
          <a:solidFill>
            <a:srgbClr val="0B1226">
              <a:alpha val="89000"/>
            </a:srgbClr>
          </a:solidFill>
          <a:ln w="15240">
            <a:solidFill>
              <a:srgbClr val="FF6BD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48272" y="1572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Diferencias por color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48272" y="2057400"/>
            <a:ext cx="4251960" cy="2487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E7F2FF"/>
                </a:solidFill>
              </a:rPr>
              <a:t>• Azul: menor fricción, cae más rápido y rebota más.
• Rosada: recibe viento lateral sinusoidal.
• Dorada: mayor masa, menos desviación al chocar.
• Verde: puede activar un pequeño boost al tocar zonas especiales.
• Morada: cambia de tamaño visual con una onda senoidal.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60E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65562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4BD"/>
                </a:solidFill>
              </a:rPr>
              <a:t>Plinko 3D Paralelo · Entrega 1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3d_digital_illustration_infographi_batch_2_dark.jp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final para la primera entrega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76072" y="8686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3E8"/>
                </a:solidFill>
              </a:rPr>
              <a:t>Definición de alcance, parámetros y resultados esperados.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77240" y="1298448"/>
            <a:ext cx="3429000" cy="4498848"/>
          </a:xfrm>
          <a:prstGeom prst="roundRect">
            <a:avLst>
              <a:gd name="adj" fmla="val 3200"/>
            </a:avLst>
          </a:prstGeom>
          <a:solidFill>
            <a:srgbClr val="0B1226">
              <a:alpha val="90000"/>
            </a:srgbClr>
          </a:solidFill>
          <a:ln w="15240">
            <a:solidFill>
              <a:srgbClr val="2BE7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4128" y="15910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FFFFF"/>
                </a:solidFill>
              </a:rPr>
              <a:t>Qué haremos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24128" y="2103120"/>
            <a:ext cx="28346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E7F2FF"/>
                </a:solidFill>
              </a:rPr>
              <a:t>• Screensaver Plinko 3D.
• Simulación infinita de N pelotas.
• Tablero con pines dinámicos.
• Colisiones, rebotes y zonas modificadoras.
• Comparación secuencial/paralela.</a:t>
            </a:r>
            <a:endParaRPr lang="en-US" sz="1370" dirty="0"/>
          </a:p>
        </p:txBody>
      </p:sp>
      <p:sp>
        <p:nvSpPr>
          <p:cNvPr id="8" name="Shape 5"/>
          <p:cNvSpPr/>
          <p:nvPr/>
        </p:nvSpPr>
        <p:spPr>
          <a:xfrm>
            <a:off x="4553712" y="1298448"/>
            <a:ext cx="3429000" cy="4498848"/>
          </a:xfrm>
          <a:prstGeom prst="roundRect">
            <a:avLst>
              <a:gd name="adj" fmla="val 3200"/>
            </a:avLst>
          </a:prstGeom>
          <a:solidFill>
            <a:srgbClr val="0B1226">
              <a:alpha val="90000"/>
            </a:srgbClr>
          </a:solidFill>
          <a:ln w="15240">
            <a:solidFill>
              <a:srgbClr val="FFB43B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1591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FFFFF"/>
                </a:solidFill>
              </a:rPr>
              <a:t>Parámetros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800600" y="2103120"/>
            <a:ext cx="28346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E7F2FF"/>
                </a:solidFill>
              </a:rPr>
              <a:t>• N: número de pelotas.
• M: cantidad de pines.
• K: zonas modificadoras.
• threads: hilos OpenMP.
• seed: aleatoriedad reproducible.
• modo: secuencial/paralelo.</a:t>
            </a:r>
            <a:endParaRPr lang="en-US" sz="1370" dirty="0"/>
          </a:p>
        </p:txBody>
      </p:sp>
      <p:sp>
        <p:nvSpPr>
          <p:cNvPr id="11" name="Shape 8"/>
          <p:cNvSpPr/>
          <p:nvPr/>
        </p:nvSpPr>
        <p:spPr>
          <a:xfrm>
            <a:off x="8321040" y="1298448"/>
            <a:ext cx="3090672" cy="4498848"/>
          </a:xfrm>
          <a:prstGeom prst="roundRect">
            <a:avLst>
              <a:gd name="adj" fmla="val 3550"/>
            </a:avLst>
          </a:prstGeom>
          <a:solidFill>
            <a:srgbClr val="0B1226">
              <a:alpha val="90000"/>
            </a:srgbClr>
          </a:solidFill>
          <a:ln w="15240">
            <a:solidFill>
              <a:srgbClr val="BA7C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67928" y="15910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80" b="1" dirty="0">
                <a:solidFill>
                  <a:srgbClr val="FFFFFF"/>
                </a:solidFill>
              </a:rPr>
              <a:t>Resultado esperado</a:t>
            </a:r>
            <a:endParaRPr lang="en-US" sz="1880" dirty="0"/>
          </a:p>
        </p:txBody>
      </p:sp>
      <p:sp>
        <p:nvSpPr>
          <p:cNvPr id="13" name="Text 10"/>
          <p:cNvSpPr/>
          <p:nvPr/>
        </p:nvSpPr>
        <p:spPr>
          <a:xfrm>
            <a:off x="8567928" y="2103120"/>
            <a:ext cx="242316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E7F2FF"/>
                </a:solidFill>
              </a:rPr>
              <a:t>• Visualmente atractivo.
• FPS estables para N alto.
• Speedup medible.
• Eficiencia reportable.
• Código modular y parametrizado.</a:t>
            </a:r>
            <a:endParaRPr lang="en-US" sz="1370" dirty="0"/>
          </a:p>
        </p:txBody>
      </p:sp>
      <p:sp>
        <p:nvSpPr>
          <p:cNvPr id="14" name="Shape 11"/>
          <p:cNvSpPr/>
          <p:nvPr/>
        </p:nvSpPr>
        <p:spPr>
          <a:xfrm>
            <a:off x="932688" y="5989320"/>
            <a:ext cx="10314432" cy="0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60E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767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del Valle de Guatemala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Plinko 3D Paralelo</dc:title>
  <dc:subject>Proyecto 1 - Computación Paralela y Distribuida</dc:subject>
  <dc:creator>OpenAI</dc:creator>
  <cp:lastModifiedBy>Ian Cumes</cp:lastModifiedBy>
  <cp:revision>2</cp:revision>
  <dcterms:created xsi:type="dcterms:W3CDTF">2026-08-06T02:32:01Z</dcterms:created>
  <dcterms:modified xsi:type="dcterms:W3CDTF">2026-08-06T02:40:15Z</dcterms:modified>
</cp:coreProperties>
</file>